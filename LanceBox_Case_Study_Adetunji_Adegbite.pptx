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5120640"/>
            <a:ext cx="4480560" cy="4480560"/>
          </a:xfrm>
          <a:prstGeom prst="ellipse">
            <a:avLst/>
          </a:prstGeom>
          <a:solidFill>
            <a:srgbClr val="0B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280160" y="-1463040"/>
            <a:ext cx="3657600" cy="3657600"/>
          </a:xfrm>
          <a:prstGeom prst="ellipse">
            <a:avLst/>
          </a:prstGeom>
          <a:solidFill>
            <a:srgbClr val="0B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60120"/>
            <a:ext cx="5943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54ACFF"/>
                </a:solidFill>
                <a:latin typeface="Calibri"/>
              </a:rPr>
              <a:t>PrimeTrust Bank Plc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600" b="1" i="0">
                <a:solidFill>
                  <a:srgbClr val="FFFFFF"/>
                </a:solidFill>
                <a:latin typeface="Calibri Light"/>
              </a:rPr>
              <a:t>LanceBox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 i="0">
                <a:solidFill>
                  <a:srgbClr val="54ACFF"/>
                </a:solidFill>
                <a:latin typeface="Calibri"/>
              </a:rPr>
              <a:t>A Simple Invoicing Mobile App with Onboarding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794760"/>
            <a:ext cx="2011680" cy="31750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0690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E0E0E0"/>
                </a:solidFill>
                <a:latin typeface="Calibri"/>
              </a:rPr>
              <a:t>Case-Study Presentation  |  Online Assessment - IT Wholesales Banking Recruitment Drive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834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BFC7CF"/>
                </a:solidFill>
                <a:latin typeface="Calibri"/>
              </a:rPr>
              <a:t>Presented by: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BFC7CF"/>
                </a:solidFill>
                <a:latin typeface="Calibri"/>
              </a:rPr>
              <a:t>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Adetunji Adegbite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9B4C0"/>
                </a:solidFill>
                <a:latin typeface="Calibri"/>
              </a:rPr>
              <a:t>
Candidate, Senior Analyst, Mobile Development
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82296" cy="65836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3035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D3B66"/>
                </a:solidFill>
                <a:latin typeface="Calibri Light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704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8A8A"/>
                </a:solidFill>
                <a:latin typeface="Calibri"/>
              </a:rPr>
              <a:t>What this presentation covers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73952"/>
            <a:ext cx="11057839" cy="1524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LanceBox  |  PrimeTrust Bank Plc  -  Senior Analyst, Mobile Development  -  Case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4ACFF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600" b="1">
                <a:solidFill>
                  <a:srgbClr val="54ACFF"/>
                </a:solidFill>
                <a:latin typeface="Calibri"/>
              </a:rPr>
              <a:t>1.   </a:t>
            </a:r>
            <a:r>
              <a:rPr sz="2400" b="0">
                <a:solidFill>
                  <a:srgbClr val="333333"/>
                </a:solidFill>
                <a:latin typeface="Calibri"/>
              </a:rPr>
              <a:t>Business Objective &amp; Requirements</a:t>
            </a:r>
          </a:p>
          <a:p>
            <a:pPr>
              <a:spcAft>
                <a:spcPts val="1400"/>
              </a:spcAft>
            </a:pPr>
            <a:r>
              <a:rPr sz="2600" b="1">
                <a:solidFill>
                  <a:srgbClr val="54ACFF"/>
                </a:solidFill>
                <a:latin typeface="Calibri"/>
              </a:rPr>
              <a:t>2.   </a:t>
            </a:r>
            <a:r>
              <a:rPr sz="2400" b="0">
                <a:solidFill>
                  <a:srgbClr val="333333"/>
                </a:solidFill>
                <a:latin typeface="Calibri"/>
              </a:rPr>
              <a:t>Solution &amp; Tech Stack</a:t>
            </a:r>
          </a:p>
          <a:p>
            <a:pPr>
              <a:spcAft>
                <a:spcPts val="1400"/>
              </a:spcAft>
            </a:pPr>
            <a:r>
              <a:rPr sz="2600" b="1">
                <a:solidFill>
                  <a:srgbClr val="54ACFF"/>
                </a:solidFill>
                <a:latin typeface="Calibri"/>
              </a:rPr>
              <a:t>3.   </a:t>
            </a:r>
            <a:r>
              <a:rPr sz="2400" b="0">
                <a:solidFill>
                  <a:srgbClr val="333333"/>
                </a:solidFill>
                <a:latin typeface="Calibri"/>
              </a:rPr>
              <a:t>System Architecture &amp; Folder Structure</a:t>
            </a:r>
          </a:p>
          <a:p>
            <a:pPr>
              <a:spcAft>
                <a:spcPts val="1400"/>
              </a:spcAft>
            </a:pPr>
            <a:r>
              <a:rPr sz="2600" b="1">
                <a:solidFill>
                  <a:srgbClr val="54ACFF"/>
                </a:solidFill>
                <a:latin typeface="Calibri"/>
              </a:rPr>
              <a:t>4.   </a:t>
            </a:r>
            <a:r>
              <a:rPr sz="2400" b="0">
                <a:solidFill>
                  <a:srgbClr val="333333"/>
                </a:solidFill>
                <a:latin typeface="Calibri"/>
              </a:rPr>
              <a:t>Features &amp; Screens Implemented (Demo Flow)</a:t>
            </a:r>
          </a:p>
          <a:p>
            <a:pPr>
              <a:spcAft>
                <a:spcPts val="1400"/>
              </a:spcAft>
            </a:pPr>
            <a:r>
              <a:rPr sz="2600" b="1">
                <a:solidFill>
                  <a:srgbClr val="54ACFF"/>
                </a:solidFill>
                <a:latin typeface="Calibri"/>
              </a:rPr>
              <a:t>5.   </a:t>
            </a:r>
            <a:r>
              <a:rPr sz="2400" b="0">
                <a:solidFill>
                  <a:srgbClr val="333333"/>
                </a:solidFill>
                <a:latin typeface="Calibri"/>
              </a:rPr>
              <a:t>State Management</a:t>
            </a:r>
          </a:p>
          <a:p>
            <a:pPr>
              <a:spcAft>
                <a:spcPts val="1400"/>
              </a:spcAft>
            </a:pPr>
            <a:r>
              <a:rPr sz="2600" b="1">
                <a:solidFill>
                  <a:srgbClr val="54ACFF"/>
                </a:solidFill>
                <a:latin typeface="Calibri"/>
              </a:rPr>
              <a:t>6.   </a:t>
            </a:r>
            <a:r>
              <a:rPr sz="2400" b="0">
                <a:solidFill>
                  <a:srgbClr val="333333"/>
                </a:solidFill>
                <a:latin typeface="Calibri"/>
              </a:rPr>
              <a:t>Error Handling</a:t>
            </a:r>
          </a:p>
          <a:p>
            <a:pPr>
              <a:spcAft>
                <a:spcPts val="1400"/>
              </a:spcAft>
            </a:pPr>
            <a:r>
              <a:rPr sz="2600" b="1">
                <a:solidFill>
                  <a:srgbClr val="54ACFF"/>
                </a:solidFill>
                <a:latin typeface="Calibri"/>
              </a:rPr>
              <a:t>7.   </a:t>
            </a:r>
            <a:r>
              <a:rPr sz="2400" b="0">
                <a:solidFill>
                  <a:srgbClr val="333333"/>
                </a:solidFill>
                <a:latin typeface="Calibri"/>
              </a:rPr>
              <a:t>Responsiveness</a:t>
            </a:r>
          </a:p>
          <a:p>
            <a:pPr>
              <a:spcAft>
                <a:spcPts val="1400"/>
              </a:spcAft>
            </a:pPr>
            <a:r>
              <a:rPr sz="2600" b="1">
                <a:solidFill>
                  <a:srgbClr val="54ACFF"/>
                </a:solidFill>
                <a:latin typeface="Calibri"/>
              </a:rPr>
              <a:t>8.   </a:t>
            </a:r>
            <a:r>
              <a:rPr sz="2400" b="0">
                <a:solidFill>
                  <a:srgbClr val="333333"/>
                </a:solidFill>
                <a:latin typeface="Calibri"/>
              </a:rPr>
              <a:t>Code Quality, Scalability &amp; Performance</a:t>
            </a:r>
          </a:p>
          <a:p>
            <a:pPr>
              <a:spcAft>
                <a:spcPts val="1400"/>
              </a:spcAft>
            </a:pPr>
            <a:r>
              <a:rPr sz="2600" b="1">
                <a:solidFill>
                  <a:srgbClr val="54ACFF"/>
                </a:solidFill>
                <a:latin typeface="Calibri"/>
              </a:rPr>
              <a:t>9.   </a:t>
            </a:r>
            <a:r>
              <a:rPr sz="2400" b="0">
                <a:solidFill>
                  <a:srgbClr val="333333"/>
                </a:solidFill>
                <a:latin typeface="Calibri"/>
              </a:rPr>
              <a:t>Documentation</a:t>
            </a:r>
          </a:p>
          <a:p>
            <a:pPr>
              <a:spcAft>
                <a:spcPts val="1400"/>
              </a:spcAft>
            </a:pPr>
            <a:r>
              <a:rPr sz="2600" b="1">
                <a:solidFill>
                  <a:srgbClr val="54ACFF"/>
                </a:solidFill>
                <a:latin typeface="Calibri"/>
              </a:rPr>
              <a:t>10.   </a:t>
            </a:r>
            <a:r>
              <a:rPr sz="2400" b="0">
                <a:solidFill>
                  <a:srgbClr val="333333"/>
                </a:solidFill>
                <a:latin typeface="Calibri"/>
              </a:rPr>
              <a:t>Next Steps &amp;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82296" cy="65836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3035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D3B66"/>
                </a:solidFill>
                <a:latin typeface="Calibri Light"/>
              </a:rPr>
              <a:t>Business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704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8A8A"/>
                </a:solidFill>
                <a:latin typeface="Calibri"/>
              </a:rPr>
              <a:t>Why LanceBox?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73952"/>
            <a:ext cx="11057839" cy="1524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LanceBox  |  PrimeTrust Bank Plc  -  Senior Analyst, Mobile Development  -  Case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4ACFF"/>
                </a:solidFill>
                <a:latin typeface="Calibr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00" b="1">
                <a:solidFill>
                  <a:srgbClr val="54ACFF"/>
                </a:solidFill>
                <a:latin typeface="Calibri"/>
              </a:rPr>
              <a:t>▪ Onboarding:</a:t>
            </a:r>
            <a:r>
              <a:rPr sz="1700" b="0">
                <a:solidFill>
                  <a:srgbClr val="333333"/>
                </a:solidFill>
                <a:latin typeface="Calibri"/>
              </a:rPr>
              <a:t>  A frictionless sign-up and profile-setup flow so PrimeTrust Bank customers can open/integrate their account in seconds.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00" b="1">
                <a:solidFill>
                  <a:srgbClr val="54ACFF"/>
                </a:solidFill>
                <a:latin typeface="Calibri"/>
              </a:rPr>
              <a:t>▪ Invoicing:</a:t>
            </a:r>
            <a:r>
              <a:rPr sz="1700" b="0">
                <a:solidFill>
                  <a:srgbClr val="333333"/>
                </a:solidFill>
                <a:latin typeface="Calibri"/>
              </a:rPr>
              <a:t>  A guided, 3-step invoice creation flow - Invoice Details, Bank Details and PDF Preview - built for SMEs, freelancers and business owners.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00" b="1">
                <a:solidFill>
                  <a:srgbClr val="54ACFF"/>
                </a:solidFill>
                <a:latin typeface="Calibri"/>
              </a:rPr>
              <a:t>▪ Bank-grade foundation:</a:t>
            </a:r>
            <a:r>
              <a:rPr sz="1700" b="0">
                <a:solidFill>
                  <a:srgbClr val="333333"/>
                </a:solidFill>
                <a:latin typeface="Calibri"/>
              </a:rPr>
              <a:t>  Designed as a clean, scalable, cross-platform mobile app that fits PrimeTrust's digital-first, global-expansion strategy.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00" b="1">
                <a:solidFill>
                  <a:srgbClr val="54ACFF"/>
                </a:solidFill>
                <a:latin typeface="Calibri"/>
              </a:rPr>
              <a:t>▪ Single codebase:</a:t>
            </a:r>
            <a:r>
              <a:rPr sz="1700" b="0">
                <a:solidFill>
                  <a:srgbClr val="333333"/>
                </a:solidFill>
                <a:latin typeface="Calibri"/>
              </a:rPr>
              <a:t>  One Flutter codebase targeted at both Android and iOS, reducing build and maintenance cost.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00" b="1">
                <a:solidFill>
                  <a:srgbClr val="54ACFF"/>
                </a:solidFill>
                <a:latin typeface="Calibri"/>
              </a:rPr>
              <a:t>▪ Audience:</a:t>
            </a:r>
            <a:r>
              <a:rPr sz="1700" b="0">
                <a:solidFill>
                  <a:srgbClr val="333333"/>
                </a:solidFill>
                <a:latin typeface="Calibri"/>
              </a:rPr>
              <a:t>  Approximately 12,000 active core-banking users and the broader business-customer base across 790+ branches.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1600200"/>
            <a:ext cx="3794760" cy="429768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182880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D3B66"/>
                </a:solidFill>
                <a:latin typeface="Calibri"/>
              </a:rPr>
              <a:t>Assignment 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331720"/>
            <a:ext cx="33832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4CAF50"/>
                </a:solidFill>
                <a:latin typeface="Calibri"/>
              </a:rPr>
              <a:t>✓ </a:t>
            </a:r>
            <a:r>
              <a:rPr sz="1500" b="1">
                <a:solidFill>
                  <a:srgbClr val="333333"/>
                </a:solidFill>
                <a:latin typeface="Calibri"/>
              </a:rPr>
              <a:t>Screens &amp; features</a:t>
            </a:r>
            <a:r>
              <a:rPr sz="1350">
                <a:solidFill>
                  <a:srgbClr val="8A8A8A"/>
                </a:solidFill>
                <a:latin typeface="Calibri"/>
              </a:rPr>
              <a:t> - per the Figma design spec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4CAF50"/>
                </a:solidFill>
                <a:latin typeface="Calibri"/>
              </a:rPr>
              <a:t>✓ </a:t>
            </a:r>
            <a:r>
              <a:rPr sz="1500" b="1">
                <a:solidFill>
                  <a:srgbClr val="333333"/>
                </a:solidFill>
                <a:latin typeface="Calibri"/>
              </a:rPr>
              <a:t>Error handling</a:t>
            </a:r>
            <a:r>
              <a:rPr sz="1350">
                <a:solidFill>
                  <a:srgbClr val="8A8A8A"/>
                </a:solidFill>
                <a:latin typeface="Calibri"/>
              </a:rPr>
              <a:t> - clear, user-friendly validation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4CAF50"/>
                </a:solidFill>
                <a:latin typeface="Calibri"/>
              </a:rPr>
              <a:t>✓ </a:t>
            </a:r>
            <a:r>
              <a:rPr sz="1500" b="1">
                <a:solidFill>
                  <a:srgbClr val="333333"/>
                </a:solidFill>
                <a:latin typeface="Calibri"/>
              </a:rPr>
              <a:t>Responsiveness</a:t>
            </a:r>
            <a:r>
              <a:rPr sz="1350">
                <a:solidFill>
                  <a:srgbClr val="8A8A8A"/>
                </a:solidFill>
                <a:latin typeface="Calibri"/>
              </a:rPr>
              <a:t> - device-size aware UI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4CAF50"/>
                </a:solidFill>
                <a:latin typeface="Calibri"/>
              </a:rPr>
              <a:t>✓ </a:t>
            </a:r>
            <a:r>
              <a:rPr sz="1500" b="1">
                <a:solidFill>
                  <a:srgbClr val="333333"/>
                </a:solidFill>
                <a:latin typeface="Calibri"/>
              </a:rPr>
              <a:t>Code quality</a:t>
            </a:r>
            <a:r>
              <a:rPr sz="1350">
                <a:solidFill>
                  <a:srgbClr val="8A8A8A"/>
                </a:solidFill>
                <a:latin typeface="Calibri"/>
              </a:rPr>
              <a:t> - readability, state mgmt, scalability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4CAF50"/>
                </a:solidFill>
                <a:latin typeface="Calibri"/>
              </a:rPr>
              <a:t>✓ </a:t>
            </a:r>
            <a:r>
              <a:rPr sz="1500" b="1">
                <a:solidFill>
                  <a:srgbClr val="333333"/>
                </a:solidFill>
                <a:latin typeface="Calibri"/>
              </a:rPr>
              <a:t>Performance</a:t>
            </a:r>
            <a:r>
              <a:rPr sz="1350">
                <a:solidFill>
                  <a:srgbClr val="8A8A8A"/>
                </a:solidFill>
                <a:latin typeface="Calibri"/>
              </a:rPr>
              <a:t> - fast load, lean resource usage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4CAF50"/>
                </a:solidFill>
                <a:latin typeface="Calibri"/>
              </a:rPr>
              <a:t>✓ </a:t>
            </a:r>
            <a:r>
              <a:rPr sz="1500" b="1">
                <a:solidFill>
                  <a:srgbClr val="333333"/>
                </a:solidFill>
                <a:latin typeface="Calibri"/>
              </a:rPr>
              <a:t>Documentation</a:t>
            </a:r>
            <a:r>
              <a:rPr sz="1350">
                <a:solidFill>
                  <a:srgbClr val="8A8A8A"/>
                </a:solidFill>
                <a:latin typeface="Calibri"/>
              </a:rPr>
              <a:t> - README, guides, screenshots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82296" cy="65836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3035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D3B66"/>
                </a:solidFill>
                <a:latin typeface="Calibri Light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704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8A8A"/>
                </a:solidFill>
                <a:latin typeface="Calibri"/>
              </a:rPr>
              <a:t>Chosen for speed to market, performance and developer productivity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73952"/>
            <a:ext cx="11057839" cy="1524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LanceBox  |  PrimeTrust Bank Plc  -  Senior Analyst, Mobile Development  -  Case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4ACFF"/>
                </a:solidFill>
                <a:latin typeface="Calibri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4983480" cy="196596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645920"/>
            <a:ext cx="82296" cy="1965960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184708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D3B66"/>
                </a:solidFill>
                <a:latin typeface="Calibri"/>
              </a:rPr>
              <a:t>Flutter  &amp;  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377440"/>
            <a:ext cx="4480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333333"/>
                </a:solidFill>
                <a:latin typeface="Calibri"/>
              </a:rPr>
              <a:t>Cross-platform UI framework (single codebase - Android + iOS). Dart 3.4.x, Material Design 3 theming.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53328" y="1645920"/>
            <a:ext cx="4983480" cy="196596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53328" y="1645920"/>
            <a:ext cx="82296" cy="1965960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84708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D3B66"/>
                </a:solidFill>
                <a:latin typeface="Calibri"/>
              </a:rPr>
              <a:t>Riverpod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377440"/>
            <a:ext cx="4480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333333"/>
                </a:solidFill>
                <a:latin typeface="Calibri"/>
              </a:rPr>
              <a:t>Reactive state management - compile-safe, testable providers; avoids InheritedWidget boilerplate.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886200"/>
            <a:ext cx="4983480" cy="196596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886200"/>
            <a:ext cx="82296" cy="1965960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08736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D3B66"/>
                </a:solidFill>
                <a:latin typeface="Calibri"/>
              </a:rPr>
              <a:t>MVVM-style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617720"/>
            <a:ext cx="4480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333333"/>
                </a:solidFill>
                <a:latin typeface="Calibri"/>
              </a:rPr>
              <a:t>Clear separation: presentation (views/widgets) / states (view-models) / shared (theme, constants).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53328" y="3886200"/>
            <a:ext cx="4983480" cy="196596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53328" y="3886200"/>
            <a:ext cx="82296" cy="1965960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408736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D3B66"/>
                </a:solidFill>
                <a:latin typeface="Calibri"/>
              </a:rPr>
              <a:t>image_picker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617720"/>
            <a:ext cx="4480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333333"/>
                </a:solidFill>
                <a:latin typeface="Calibri"/>
              </a:rPr>
              <a:t>Native gallery / camera picking for the business-logo upload in onboarding.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126480"/>
            <a:ext cx="4983480" cy="196596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6126480"/>
            <a:ext cx="82296" cy="1965960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632764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D3B66"/>
                </a:solidFill>
                <a:latin typeface="Calibri"/>
              </a:rPr>
              <a:t>flutter_pdfview + shimmer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6858000"/>
            <a:ext cx="4480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333333"/>
                </a:solidFill>
                <a:latin typeface="Calibri"/>
              </a:rPr>
              <a:t>Native PDF rendering for the invoice preview with a shimmer loading skeleton.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53328" y="6126480"/>
            <a:ext cx="4983480" cy="196596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53328" y="6126480"/>
            <a:ext cx="82296" cy="1965960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3368" y="632764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D3B66"/>
                </a:solidFill>
                <a:latin typeface="Calibri"/>
              </a:rPr>
              <a:t>flutter_svg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6858000"/>
            <a:ext cx="4480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333333"/>
                </a:solidFill>
                <a:latin typeface="Calibri"/>
              </a:rPr>
              <a:t>Scalable, resolution-independent SVG iconography.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82296" cy="65836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3035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D3B66"/>
                </a:solidFill>
                <a:latin typeface="Calibri Light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704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8A8A"/>
                </a:solidFill>
                <a:latin typeface="Calibri"/>
              </a:rPr>
              <a:t>Feature-oriented layout with a clean MVVM-style separation of concerns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73952"/>
            <a:ext cx="11057839" cy="1524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LanceBox  |  PrimeTrust Bank Plc  -  Senior Analyst, Mobile Development  -  Case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4ACFF"/>
                </a:solidFill>
                <a:latin typeface="Calibr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D3B66"/>
                </a:solidFill>
                <a:latin typeface="Calibri"/>
              </a:rPr>
              <a:t>Folder structure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965960"/>
            <a:ext cx="1600200" cy="420624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2996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lib/m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14600" y="1965960"/>
            <a:ext cx="8778240" cy="420624"/>
          </a:xfrm>
          <a:prstGeom prst="rect">
            <a:avLst/>
          </a:prstGeom>
          <a:solidFill>
            <a:srgbClr val="F0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2039112"/>
            <a:ext cx="8458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App entry - ProviderScope wraps a central MaterialApp + route table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532888"/>
            <a:ext cx="1600200" cy="420624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96896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presentation/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4600" y="2532888"/>
            <a:ext cx="8778240" cy="420624"/>
          </a:xfrm>
          <a:prstGeom prst="rect">
            <a:avLst/>
          </a:prstGeom>
          <a:solidFill>
            <a:srgbClr val="F0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80" y="2606040"/>
            <a:ext cx="8458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UI layer - views &amp; reusable widgets (onboarding, auth, dashboard, invoice flow)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099816"/>
            <a:ext cx="1600200" cy="420624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163824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states/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14600" y="3099816"/>
            <a:ext cx="8778240" cy="420624"/>
          </a:xfrm>
          <a:prstGeom prst="rect">
            <a:avLst/>
          </a:prstGeom>
          <a:solidFill>
            <a:srgbClr val="F0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7480" y="3172968"/>
            <a:ext cx="8458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View-model layer - Riverpod StateNotifier + immutable models (sign_up, set_up, invoice)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666744"/>
            <a:ext cx="1600200" cy="420624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730752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shared/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14600" y="3666744"/>
            <a:ext cx="8778240" cy="420624"/>
          </a:xfrm>
          <a:prstGeom prst="rect">
            <a:avLst/>
          </a:prstGeom>
          <a:solidFill>
            <a:srgbClr val="F0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97480" y="3739896"/>
            <a:ext cx="8458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Theme (colors/fonts), constants (routes, validators, errors), responsive extensions &amp; assets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233672"/>
            <a:ext cx="1600200" cy="420624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29768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utils/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14600" y="4233672"/>
            <a:ext cx="8778240" cy="420624"/>
          </a:xfrm>
          <a:prstGeom prst="rect">
            <a:avLst/>
          </a:prstGeom>
          <a:solidFill>
            <a:srgbClr val="F0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97480" y="4306824"/>
            <a:ext cx="8458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Cross-cutting helpers (e.g. ImageUtils for image picking/upload)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4983480"/>
            <a:ext cx="10469880" cy="118872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120640"/>
            <a:ext cx="10058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D3B66"/>
                </a:solidFill>
                <a:latin typeface="Calibri"/>
              </a:rPr>
              <a:t>Key decisions: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Barrel files for clean imports  •  centralized Routes constants and named navigation  •  single-source AppColors / AppFonts  •  responsive sizing helpers on BuildContext  •  backend (Firebase) isolated behind commented config, so a real API layer can slot in without UI churn.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82296" cy="65836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3035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D3B66"/>
                </a:solidFill>
                <a:latin typeface="Calibri Light"/>
              </a:rPr>
              <a:t>Feature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704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8A8A"/>
                </a:solidFill>
                <a:latin typeface="Calibri"/>
              </a:rPr>
              <a:t>Onboarding: Sign-Up -&gt; Profile Setup -&gt;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73952"/>
            <a:ext cx="11057839" cy="1524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LanceBox  |  PrimeTrust Bank Plc  -  Senior Analyst, Mobile Development  -  Case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4ACFF"/>
                </a:solidFill>
                <a:latin typeface="Calibri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813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8A8A8A"/>
                </a:solidFill>
                <a:latin typeface="Calibri"/>
              </a:rPr>
              <a:t>Onboarding flow - from account sign-up to the customer dashboard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965960"/>
            <a:ext cx="1883664" cy="356616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7824" y="2020824"/>
            <a:ext cx="1773936" cy="3456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ign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539" y="2066544"/>
            <a:ext cx="1608505" cy="336499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3246120" y="1965960"/>
            <a:ext cx="1883664" cy="356616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00984" y="2020824"/>
            <a:ext cx="1773936" cy="3456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rofileSet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699" y="2066544"/>
            <a:ext cx="1608505" cy="336499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669280" y="1965960"/>
            <a:ext cx="1883664" cy="356616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24144" y="2020824"/>
            <a:ext cx="1773936" cy="3456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Uploa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859" y="2066544"/>
            <a:ext cx="1608505" cy="3364992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8092440" y="1965960"/>
            <a:ext cx="1883664" cy="356616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47304" y="2020824"/>
            <a:ext cx="1773936" cy="3456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BusinessSelec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0019" y="2066544"/>
            <a:ext cx="1608505" cy="336499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22960" y="56692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Sign-Up
Email + password, social login, live form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56692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Profile Setup
Multi-step onboarding 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56692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Logo Upload
image_picker + simulated progress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56692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Account Type
Business Owner vs Freelancer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1828800"/>
            <a:ext cx="10607040" cy="6350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82296" cy="65836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3035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D3B66"/>
                </a:solidFill>
                <a:latin typeface="Calibri Light"/>
              </a:rPr>
              <a:t>Feature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704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8A8A"/>
                </a:solidFill>
                <a:latin typeface="Calibri"/>
              </a:rPr>
              <a:t>Invoicing: Dashboard -&gt; Create Invoice -&gt; Bank Details -&gt; Preview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73952"/>
            <a:ext cx="11057839" cy="1524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LanceBox  |  PrimeTrust Bank Plc  -  Senior Analyst, Mobile Development  -  Case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4ACFF"/>
                </a:solidFill>
                <a:latin typeface="Calibri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813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8A8A8A"/>
                </a:solidFill>
                <a:latin typeface="Calibri"/>
              </a:rPr>
              <a:t>Dashboard home, drawer navigation and the guided 3-step invoice creation 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965960"/>
            <a:ext cx="1883664" cy="356616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7824" y="2020824"/>
            <a:ext cx="1773936" cy="3456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ashboard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539" y="2066544"/>
            <a:ext cx="1608505" cy="33649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60" y="56692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Dashboard
Welcome home + Create New Invoice card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1965960"/>
            <a:ext cx="1883664" cy="356616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83864" y="2020824"/>
            <a:ext cx="1773936" cy="3456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ideDra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579" y="2066544"/>
            <a:ext cx="1608505" cy="33649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429000" y="56692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Side Drawer
Invoices / Profile / Receipts / Settings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965960"/>
            <a:ext cx="5074920" cy="356616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2194560"/>
            <a:ext cx="46177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0D3B66"/>
                </a:solidFill>
                <a:latin typeface="Calibri"/>
              </a:rPr>
              <a:t>Step 1 - Invoice Details
</a:t>
            </a:r>
            <a:r>
              <a:rPr sz="1250">
                <a:solidFill>
                  <a:srgbClr val="333333"/>
                </a:solidFill>
                <a:latin typeface="Calibri"/>
              </a:rPr>
              <a:t>Invoice number, client &amp; your name, date, currency, title, itemized quantity/price, VAT, shipping and computed totals.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D3B66"/>
                </a:solidFill>
                <a:latin typeface="Calibri"/>
              </a:rPr>
              <a:t>Step 2 - Bank Details
</a:t>
            </a:r>
            <a:r>
              <a:rPr sz="1250">
                <a:solidFill>
                  <a:srgbClr val="333333"/>
                </a:solidFill>
                <a:latin typeface="Calibri"/>
              </a:rPr>
              <a:t>Bank number, bank name, account name and payment terms.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D3B66"/>
                </a:solidFill>
                <a:latin typeface="Calibri"/>
              </a:rPr>
              <a:t>Step 3 - Preview
</a:t>
            </a:r>
            <a:r>
              <a:rPr sz="1250">
                <a:solidFill>
                  <a:srgbClr val="333333"/>
                </a:solidFill>
                <a:latin typeface="Calibri"/>
              </a:rPr>
              <a:t>Design-accurate PDF preview (flutter_pdfview) with shimmer placeholder, Download &amp; Send-to-client actions.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82296" cy="65836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3035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D3B66"/>
                </a:solidFill>
                <a:latin typeface="Calibri Light"/>
              </a:rPr>
              <a:t>State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704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8A8A"/>
                </a:solidFill>
                <a:latin typeface="Calibri"/>
              </a:rPr>
              <a:t>Riverpod StateNotifier + immutable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73952"/>
            <a:ext cx="11057839" cy="1524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LanceBox  |  PrimeTrust Bank Plc  -  Senior Analyst, Mobile Development  -  Case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4ACFF"/>
                </a:solidFill>
                <a:latin typeface="Calibri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08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D3B66"/>
                </a:solidFill>
                <a:latin typeface="Calibri"/>
              </a:rPr>
              <a:t>Why Riverpod over alternatives (setState / Bloc / Provider):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03120"/>
            <a:ext cx="54864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50" b="1">
                <a:solidFill>
                  <a:srgbClr val="54ACFF"/>
                </a:solidFill>
                <a:latin typeface="Calibri"/>
              </a:rPr>
              <a:t>▪ ProviderScope at root:</a:t>
            </a:r>
            <a:r>
              <a:rPr sz="1550" b="0">
                <a:solidFill>
                  <a:srgbClr val="333333"/>
                </a:solidFill>
                <a:latin typeface="Calibri"/>
              </a:rPr>
              <a:t>  dependency wiring and state lifecycle are managed once, app-wide (main.dart:17).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50" b="1">
                <a:solidFill>
                  <a:srgbClr val="54ACFF"/>
                </a:solidFill>
                <a:latin typeface="Calibri"/>
              </a:rPr>
              <a:t>▪ StateNotifier pattern:</a:t>
            </a:r>
            <a:r>
              <a:rPr sz="1550" b="0">
                <a:solidFill>
                  <a:srgbClr val="333333"/>
                </a:solidFill>
                <a:latin typeface="Calibri"/>
              </a:rPr>
              <a:t>  UI never mutates state directly - it calls methods on a notifier that emits a new immutable state.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50" b="1">
                <a:solidFill>
                  <a:srgbClr val="54ACFF"/>
                </a:solidFill>
                <a:latin typeface="Calibri"/>
              </a:rPr>
              <a:t>▪ Immutable models:</a:t>
            </a:r>
            <a:r>
              <a:rPr sz="1550" b="0">
                <a:solidFill>
                  <a:srgbClr val="333333"/>
                </a:solidFill>
                <a:latin typeface="Calibri"/>
              </a:rPr>
              <a:t>  every state transitions via copyWith - predictable and easy to test.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50" b="1">
                <a:solidFill>
                  <a:srgbClr val="54ACFF"/>
                </a:solidFill>
                <a:latin typeface="Calibri"/>
              </a:rPr>
              <a:t>▪ Testability:</a:t>
            </a:r>
            <a:r>
              <a:rPr sz="1550" b="0">
                <a:solidFill>
                  <a:srgbClr val="333333"/>
                </a:solidFill>
                <a:latin typeface="Calibri"/>
              </a:rPr>
              <a:t>  providers can be overridden per-test; no globals or singletons.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50" b="1">
                <a:solidFill>
                  <a:srgbClr val="54ACFF"/>
                </a:solidFill>
                <a:latin typeface="Calibri"/>
              </a:rPr>
              <a:t>▪ Scalable:</a:t>
            </a:r>
            <a:r>
              <a:rPr sz="1550" b="0">
                <a:solidFill>
                  <a:srgbClr val="333333"/>
                </a:solidFill>
                <a:latin typeface="Calibri"/>
              </a:rPr>
              <a:t>  add new features by adding models + providers without touching existing screens.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874519"/>
            <a:ext cx="4846320" cy="416052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05740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54ACFF"/>
                </a:solidFill>
                <a:latin typeface="Calibri"/>
              </a:rPr>
              <a:t>Example - invoice selection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468880"/>
            <a:ext cx="448056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9F2FA"/>
                </a:solidFill>
                <a:latin typeface="Consolas"/>
              </a:rPr>
              <a:t>class InvoiceState extends
   StateNotifier&lt;InvoiceStateModel&gt; {
  void selectCreateInvoice() {
    state = state.copyWith(
      selection: 0, isLoading: false
    );
  }
}
final invoiceProvider =
  StateNotifierProvider&lt;InvoiceState,
    InvoiceStateModel&gt;((ref) =&gt; InvoiceState());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82296" cy="65836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3035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D3B66"/>
                </a:solidFill>
                <a:latin typeface="Calibri Light"/>
              </a:rPr>
              <a:t>Error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704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8A8A"/>
                </a:solidFill>
                <a:latin typeface="Calibri"/>
              </a:rPr>
              <a:t>User-friendly, layered error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73952"/>
            <a:ext cx="11057839" cy="1524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LanceBox  |  PrimeTrust Bank Plc  -  Senior Analyst, Mobile Development  -  Case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4ACFF"/>
                </a:solidFill>
                <a:latin typeface="Calibri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08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D3B66"/>
                </a:solidFill>
                <a:latin typeface="Calibri"/>
              </a:rPr>
              <a:t>Three layers of protection across the app: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0469880" cy="118872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057400"/>
            <a:ext cx="82296" cy="1188720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194560"/>
            <a:ext cx="9875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0D3B66"/>
                </a:solidFill>
                <a:latin typeface="Calibri"/>
              </a:rPr>
              <a:t>1 - Form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624328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Field-level validators in the StateNotifier (email regex, &gt;= 8-char password, confirm-match). Errors surface inline under fields and clear the moment they are fixed.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474720"/>
            <a:ext cx="10469880" cy="118872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474720"/>
            <a:ext cx="82296" cy="118872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611880"/>
            <a:ext cx="9875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0D3B66"/>
                </a:solidFill>
                <a:latin typeface="Calibri"/>
              </a:rPr>
              <a:t>2 - Centralized Errors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041648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LanceBoxError constants map UI messages to known auth/network scenarios (userNotFound, emailAlreadyInUse, weakPassword, internetConnection) - backend-ready.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892040"/>
            <a:ext cx="10469880" cy="118872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892040"/>
            <a:ext cx="82296" cy="118872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5029200"/>
            <a:ext cx="9875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0D3B66"/>
                </a:solidFill>
                <a:latin typeface="Calibri"/>
              </a:rPr>
              <a:t>3 - Visual Feedback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458968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Loading spinners + disabled buttons while processing, a FormError list widget, and explicit uploading / uploaded / error states on the logo upload screen.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623560"/>
            <a:ext cx="10469880" cy="594360"/>
          </a:xfrm>
          <a:prstGeom prst="rect">
            <a:avLst/>
          </a:prstGeom>
          <a:solidFill>
            <a:srgbClr val="F8F8F7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724144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D3B66"/>
                </a:solidFill>
                <a:latin typeface="Calibri"/>
              </a:rPr>
              <a:t>No silent failures: every async/processing path shows a disabled control or a progress state, so users always know what the app is doing.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82296" cy="65836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3035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D3B66"/>
                </a:solidFill>
                <a:latin typeface="Calibri Light"/>
              </a:rPr>
              <a:t>Responsiveness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704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8A8A"/>
                </a:solidFill>
                <a:latin typeface="Calibri"/>
              </a:rPr>
              <a:t>Design-system aware sizing that adapts to any device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73952"/>
            <a:ext cx="11057839" cy="1524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LanceBox  |  PrimeTrust Bank Plc  -  Senior Analyst, Mobile Development  -  Case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4ACFF"/>
                </a:solidFill>
                <a:latin typeface="Calibr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08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D3B66"/>
                </a:solidFill>
                <a:latin typeface="Calibri"/>
              </a:rPr>
              <a:t>Laid out against a 375 x 812 (iPhone) design reference, then scaled fluidly: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54864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50" b="1">
                <a:solidFill>
                  <a:srgbClr val="54ACFF"/>
                </a:solidFill>
                <a:latin typeface="Calibri"/>
              </a:rPr>
              <a:t>▪ BuildContext helpers:</a:t>
            </a:r>
            <a:r>
              <a:rPr sz="1550" b="0">
                <a:solidFill>
                  <a:srgbClr val="333333"/>
                </a:solidFill>
                <a:latin typeface="Calibri"/>
              </a:rPr>
              <a:t>  dynamicScreenHeight / dynamicScreenWidth / percentScreenWidth compute sizes proportional to the actual screen (shared/constants/extensions.dart).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50" b="1">
                <a:solidFill>
                  <a:srgbClr val="54ACFF"/>
                </a:solidFill>
                <a:latin typeface="Calibri"/>
              </a:rPr>
              <a:t>▪ Flutter layout primitives:</a:t>
            </a:r>
            <a:r>
              <a:rPr sz="1550" b="0">
                <a:solidFill>
                  <a:srgbClr val="333333"/>
                </a:solidFill>
                <a:latin typeface="Calibri"/>
              </a:rPr>
              <a:t>  Flexible / Expanded rows, Expanded columns and SafeArea let every screen reflow gracefully across phones and tablets.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50" b="1">
                <a:solidFill>
                  <a:srgbClr val="54ACFF"/>
                </a:solidFill>
                <a:latin typeface="Calibri"/>
              </a:rPr>
              <a:t>▪ Bundle with fonts:</a:t>
            </a:r>
            <a:r>
              <a:rPr sz="1550" b="0">
                <a:solidFill>
                  <a:srgbClr val="333333"/>
                </a:solidFill>
                <a:latin typeface="Calibri"/>
              </a:rPr>
              <a:t>  Pretendard (9 weights) + Plus Jakarta Sans scale to fit -- no hard-coded pixel text sizes.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48840"/>
            <a:ext cx="47548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50" b="1">
                <a:solidFill>
                  <a:srgbClr val="54ACFF"/>
                </a:solidFill>
                <a:latin typeface="Calibri"/>
              </a:rPr>
              <a:t>▪ SVG iconography:</a:t>
            </a:r>
            <a:r>
              <a:rPr sz="1550" b="0">
                <a:solidFill>
                  <a:srgbClr val="333333"/>
                </a:solidFill>
                <a:latin typeface="Calibri"/>
              </a:rPr>
              <a:t>  resolution-independent icons never pixelate on high-density/retina displays.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50" b="1">
                <a:solidFill>
                  <a:srgbClr val="54ACFF"/>
                </a:solidFill>
                <a:latin typeface="Calibri"/>
              </a:rPr>
              <a:t>▪ Consistent gutters:</a:t>
            </a:r>
            <a:r>
              <a:rPr sz="1550" b="0">
                <a:solidFill>
                  <a:srgbClr val="333333"/>
                </a:solidFill>
                <a:latin typeface="Calibri"/>
              </a:rPr>
              <a:t>  spacing derives from the same scale constants on every screen for a uniform look.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50" b="1">
                <a:solidFill>
                  <a:srgbClr val="54ACFF"/>
                </a:solidFill>
                <a:latin typeface="Calibri"/>
              </a:rPr>
              <a:t>▪ Verified on:</a:t>
            </a:r>
            <a:r>
              <a:rPr sz="1550" b="0">
                <a:solidFill>
                  <a:srgbClr val="333333"/>
                </a:solidFill>
                <a:latin typeface="Calibri"/>
              </a:rPr>
              <a:t>  Android emulator + iOS simulator at multiple screen sizes.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5486400"/>
            <a:ext cx="10469880" cy="77724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59612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D3B66"/>
                </a:solidFill>
                <a:latin typeface="Calibri"/>
              </a:rPr>
              <a:t>Result: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the same Figma-accurate visual rhythm on a compact Android handset and a large iOS tablet - no fixed-width layouts, no overflow errors.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82296" cy="65836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3035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D3B66"/>
                </a:solidFill>
                <a:latin typeface="Calibri Light"/>
              </a:rPr>
              <a:t>Code Quality, Scalability &amp;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704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8A8A"/>
                </a:solidFill>
                <a:latin typeface="Calibri"/>
              </a:rPr>
              <a:t>Built to be maintained and extended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73952"/>
            <a:ext cx="11057839" cy="1524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LanceBox  |  PrimeTrust Bank Plc  -  Senior Analyst, Mobile Development  -  Case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4ACFF"/>
                </a:solidFill>
                <a:latin typeface="Calibri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600200"/>
            <a:ext cx="3584448" cy="434340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600200"/>
            <a:ext cx="3584448" cy="502920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40"/>
            <a:ext cx="32186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Code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286000"/>
            <a:ext cx="3182112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54ACFF"/>
                </a:solidFill>
                <a:latin typeface="Calibri"/>
              </a:rPr>
              <a:t>▪ </a:t>
            </a:r>
            <a:r>
              <a:rPr sz="1350">
                <a:solidFill>
                  <a:srgbClr val="333333"/>
                </a:solidFill>
                <a:latin typeface="Calibri"/>
              </a:rPr>
              <a:t>Single-purpose, reusable widgets (DefaultButton, InputField, FormError, ProgressSection) so screens are thin and declarative.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54ACFF"/>
                </a:solidFill>
                <a:latin typeface="Calibri"/>
              </a:rPr>
              <a:t>▪ </a:t>
            </a:r>
            <a:r>
              <a:rPr sz="1350">
                <a:solidFill>
                  <a:srgbClr val="333333"/>
                </a:solidFill>
                <a:latin typeface="Calibri"/>
              </a:rPr>
              <a:t>Barrel files keep imports clean; flutter_lints analysis passes with no warnings.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54ACFF"/>
                </a:solidFill>
                <a:latin typeface="Calibri"/>
              </a:rPr>
              <a:t>▪ </a:t>
            </a:r>
            <a:r>
              <a:rPr sz="1350">
                <a:solidFill>
                  <a:srgbClr val="333333"/>
                </a:solidFill>
                <a:latin typeface="Calibri"/>
              </a:rPr>
              <a:t>Immutable state models + copyWith - clear, readable diffs.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54ACFF"/>
                </a:solidFill>
                <a:latin typeface="Calibri"/>
              </a:rPr>
              <a:t>▪ </a:t>
            </a:r>
            <a:r>
              <a:rPr sz="1350">
                <a:solidFill>
                  <a:srgbClr val="333333"/>
                </a:solidFill>
                <a:latin typeface="Calibri"/>
              </a:rPr>
              <a:t>Descriptive 39-commit git history tracks feature-by-feature delivery.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1600200"/>
            <a:ext cx="3584448" cy="434340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600200"/>
            <a:ext cx="3584448" cy="50292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691640"/>
            <a:ext cx="32186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Scalability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286000"/>
            <a:ext cx="3182112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4CAF50"/>
                </a:solidFill>
                <a:latin typeface="Calibri"/>
              </a:rPr>
              <a:t>▪ </a:t>
            </a:r>
            <a:r>
              <a:rPr sz="1350">
                <a:solidFill>
                  <a:srgbClr val="333333"/>
                </a:solidFill>
                <a:latin typeface="Calibri"/>
              </a:rPr>
              <a:t>Feature-oriented folders let new modules (Receipts, Settings, Analytics) drop in without refactoring.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4CAF50"/>
                </a:solidFill>
                <a:latin typeface="Calibri"/>
              </a:rPr>
              <a:t>▪ </a:t>
            </a:r>
            <a:r>
              <a:rPr sz="1350">
                <a:solidFill>
                  <a:srgbClr val="333333"/>
                </a:solidFill>
                <a:latin typeface="Calibri"/>
              </a:rPr>
              <a:t>Riverpod providers are composable and can be delegated per feature.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4CAF50"/>
                </a:solidFill>
                <a:latin typeface="Calibri"/>
              </a:rPr>
              <a:t>▪ </a:t>
            </a:r>
            <a:r>
              <a:rPr sz="1350">
                <a:solidFill>
                  <a:srgbClr val="333333"/>
                </a:solidFill>
                <a:latin typeface="Calibri"/>
              </a:rPr>
              <a:t>Backend seam already designed - Firebase config is isolated, ready to enable real auth, storage and history.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600200"/>
            <a:ext cx="3584448" cy="434340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600200"/>
            <a:ext cx="3584448" cy="50292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691640"/>
            <a:ext cx="32186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2286000"/>
            <a:ext cx="3182112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0D3B66"/>
                </a:solidFill>
                <a:latin typeface="Calibri"/>
              </a:rPr>
              <a:t>▪ </a:t>
            </a:r>
            <a:r>
              <a:rPr sz="1350">
                <a:solidFill>
                  <a:srgbClr val="333333"/>
                </a:solidFill>
                <a:latin typeface="Calibri"/>
              </a:rPr>
              <a:t>Riverpod only rebuilds the widgets that consume changed state - minimal over-rebuild.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0D3B66"/>
                </a:solidFill>
                <a:latin typeface="Calibri"/>
              </a:rPr>
              <a:t>▪ </a:t>
            </a:r>
            <a:r>
              <a:rPr sz="1350">
                <a:solidFill>
                  <a:srgbClr val="333333"/>
                </a:solidFill>
                <a:latin typeface="Calibri"/>
              </a:rPr>
              <a:t>Shimmer skeleton + native PDF rendering (flutter_pdfview) keep the heaviest screen responsive.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0D3B66"/>
                </a:solidFill>
                <a:latin typeface="Calibri"/>
              </a:rPr>
              <a:t>▪ </a:t>
            </a:r>
            <a:r>
              <a:rPr sz="1350">
                <a:solidFill>
                  <a:srgbClr val="333333"/>
                </a:solidFill>
                <a:latin typeface="Calibri"/>
              </a:rPr>
              <a:t>Single-page assets: SVG icons over image files cut bundle weight.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0D3B66"/>
                </a:solidFill>
                <a:latin typeface="Calibri"/>
              </a:rPr>
              <a:t>▪ </a:t>
            </a:r>
            <a:r>
              <a:rPr sz="1350">
                <a:solidFill>
                  <a:srgbClr val="333333"/>
                </a:solidFill>
                <a:latin typeface="Calibri"/>
              </a:rPr>
              <a:t>Snappy simulated network states demo real-world async behaviour.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080760"/>
            <a:ext cx="10972800" cy="127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82296" cy="65836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3035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D3B66"/>
                </a:solidFill>
                <a:latin typeface="Calibri Light"/>
              </a:rPr>
              <a:t>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704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8A8A"/>
                </a:solidFill>
                <a:latin typeface="Calibri"/>
              </a:rPr>
              <a:t>Code is only as good as its guide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73952"/>
            <a:ext cx="11057839" cy="1524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LanceBox  |  PrimeTrust Bank Plc  -  Senior Analyst, Mobile Development  -  Case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4ACFF"/>
                </a:solidFill>
                <a:latin typeface="Calibr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691640"/>
            <a:ext cx="10469880" cy="86868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691640"/>
            <a:ext cx="82296" cy="868680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1801368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D3B66"/>
                </a:solidFill>
                <a:latin typeface="Calibri"/>
              </a:rPr>
              <a:t>README.md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14884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333333"/>
                </a:solidFill>
                <a:latin typeface="Calibri"/>
              </a:rPr>
              <a:t>Project overview, feature list, tech stack, install/run guide (flutter pub get &amp; flutter run), usage walkthrough, contributing and license.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743200"/>
            <a:ext cx="10469880" cy="86868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2743200"/>
            <a:ext cx="82296" cy="868680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2852928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D3B66"/>
                </a:solidFill>
                <a:latin typeface="Calibri"/>
              </a:rPr>
              <a:t>Screenshots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20040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333333"/>
                </a:solidFill>
                <a:latin typeface="Calibri"/>
              </a:rPr>
              <a:t>Seven captured screenshots of Sign-Up, Profile Setup, logo upload, dashboard and drawer embedded in the README for a visual tour.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794760"/>
            <a:ext cx="10469880" cy="86868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794760"/>
            <a:ext cx="82296" cy="868680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3904488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D3B66"/>
                </a:solidFill>
                <a:latin typeface="Calibri"/>
              </a:rPr>
              <a:t>In-code 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25196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333333"/>
                </a:solidFill>
                <a:latin typeface="Calibri"/>
              </a:rPr>
              <a:t>Self-documenting folder layering (presentation / states / shared / utils), barrel files and class-level comments.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4846320"/>
            <a:ext cx="10469880" cy="86868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846320"/>
            <a:ext cx="82296" cy="868680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956048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D3B66"/>
                </a:solidFill>
                <a:latin typeface="Calibri"/>
              </a:rPr>
              <a:t>Git history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30352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333333"/>
                </a:solidFill>
                <a:latin typeface="Calibri"/>
              </a:rPr>
              <a:t>39 focused commits across onboarding, Riverpod wiring, drawer navigation, invoice flow and refactors - a readable audit trail.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5989320"/>
            <a:ext cx="10469880" cy="502920"/>
          </a:xfrm>
          <a:prstGeom prst="rect">
            <a:avLst/>
          </a:prstGeom>
          <a:solidFill>
            <a:srgbClr val="F8F8F7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606247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0D3B66"/>
                </a:solidFill>
                <a:latin typeface="Calibri"/>
              </a:rPr>
              <a:t>Repository: github.com/Jayhymn/lance_box  -  open the README for the full picture.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82296" cy="65836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3035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D3B66"/>
                </a:solidFill>
                <a:latin typeface="Calibri Light"/>
              </a:rPr>
              <a:t>Live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704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8A8A"/>
                </a:solidFill>
                <a:latin typeface="Calibri"/>
              </a:rPr>
              <a:t>End-to-end user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73952"/>
            <a:ext cx="11057839" cy="1524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LanceBox  |  PrimeTrust Bank Plc  -  Senior Analyst, Mobile Development  -  Case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4ACFF"/>
                </a:solidFill>
                <a:latin typeface="Calibri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28800"/>
            <a:ext cx="1627632" cy="292608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16736" y="1600200"/>
            <a:ext cx="640080" cy="640080"/>
          </a:xfrm>
          <a:prstGeom prst="ellipse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1700784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514600"/>
            <a:ext cx="1408176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D3B66"/>
                </a:solidFill>
                <a:latin typeface="Calibri"/>
              </a:rPr>
              <a:t>Sign Up
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Create account with validated email + password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0592" y="2743200"/>
            <a:ext cx="1280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54ACFF"/>
                </a:solidFill>
                <a:latin typeface="Calibri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8608" y="1828800"/>
            <a:ext cx="1627632" cy="292608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72384" y="1600200"/>
            <a:ext cx="640080" cy="640080"/>
          </a:xfrm>
          <a:prstGeom prst="ellipse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52344" y="1700784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88336" y="2514600"/>
            <a:ext cx="1408176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D3B66"/>
                </a:solidFill>
                <a:latin typeface="Calibri"/>
              </a:rPr>
              <a:t>Onboarding
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Upload logo &amp; choose account 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743200"/>
            <a:ext cx="1280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54ACFF"/>
                </a:solidFill>
                <a:latin typeface="Calibri"/>
              </a:rPr>
              <a:t>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4256" y="1828800"/>
            <a:ext cx="1627632" cy="292608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28032" y="1600200"/>
            <a:ext cx="640080" cy="640080"/>
          </a:xfrm>
          <a:prstGeom prst="ellipse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07992" y="1700784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3984" y="2514600"/>
            <a:ext cx="1408176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D3B66"/>
                </a:solidFill>
                <a:latin typeface="Calibri"/>
              </a:rPr>
              <a:t>Dashboard
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Welcome screen + drawer navigation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61888" y="2743200"/>
            <a:ext cx="1280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54ACFF"/>
                </a:solidFill>
                <a:latin typeface="Calibri"/>
              </a:rP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9904" y="1828800"/>
            <a:ext cx="1627632" cy="292608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83680" y="1600200"/>
            <a:ext cx="640080" cy="640080"/>
          </a:xfrm>
          <a:prstGeom prst="ellipse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1700784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9632" y="2514600"/>
            <a:ext cx="1408176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D3B66"/>
                </a:solidFill>
                <a:latin typeface="Calibri"/>
              </a:rPr>
              <a:t>Create Invoice
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Itemized details, VAT &amp; totals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17536" y="2743200"/>
            <a:ext cx="1280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54ACFF"/>
                </a:solidFill>
                <a:latin typeface="Calibri"/>
              </a:rPr>
              <a:t>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45552" y="1828800"/>
            <a:ext cx="1627632" cy="292608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339328" y="1600200"/>
            <a:ext cx="640080" cy="640080"/>
          </a:xfrm>
          <a:prstGeom prst="ellipse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9288" y="1700784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0" y="2514600"/>
            <a:ext cx="1408176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D3B66"/>
                </a:solidFill>
                <a:latin typeface="Calibri"/>
              </a:rPr>
              <a:t>Bank Details
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Account &amp; payment terms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73184" y="2743200"/>
            <a:ext cx="1280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54ACFF"/>
                </a:solidFill>
                <a:latin typeface="Calibri"/>
              </a:rPr>
              <a:t>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1200" y="1828800"/>
            <a:ext cx="1627632" cy="292608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094976" y="1600200"/>
            <a:ext cx="640080" cy="640080"/>
          </a:xfrm>
          <a:prstGeom prst="ellipse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74936" y="1700784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10928" y="2514600"/>
            <a:ext cx="1408176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D3B66"/>
                </a:solidFill>
                <a:latin typeface="Calibri"/>
              </a:rPr>
              <a:t>Preview PDF
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Shimmer load + download / send actions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" y="5303520"/>
            <a:ext cx="10469880" cy="91440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40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54ACFF"/>
                </a:solidFill>
                <a:latin typeface="Calibri"/>
              </a:rPr>
              <a:t>10-Minute demo script: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E9F2FA"/>
                </a:solidFill>
                <a:latin typeface="Calibri"/>
              </a:rPr>
              <a:t>walk through the screens above on an emulator, highlighting validation, the upload progress state, step navigation and the PDF preview.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82296" cy="65836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3035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D3B66"/>
                </a:solidFill>
                <a:latin typeface="Calibri Light"/>
              </a:rPr>
              <a:t>Next Steps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704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8A8A"/>
                </a:solidFill>
                <a:latin typeface="Calibri"/>
              </a:rPr>
              <a:t>From demo to 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73952"/>
            <a:ext cx="11057839" cy="1524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LanceBox  |  PrimeTrust Bank Plc  -  Senior Analyst, Mobile Development  -  Case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4ACFF"/>
                </a:solidFill>
                <a:latin typeface="Calibr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D3B66"/>
                </a:solidFill>
                <a:latin typeface="Calibri"/>
              </a:rPr>
              <a:t>Implemented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4892040" cy="96012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057400"/>
            <a:ext cx="82296" cy="960120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2350008"/>
            <a:ext cx="777240" cy="38404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2395728"/>
            <a:ext cx="7040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139696"/>
            <a:ext cx="36118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333333"/>
                </a:solidFill>
                <a:latin typeface="Calibri"/>
              </a:rPr>
              <a:t>Sign-up + onboarding + full invoice creation flow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291840"/>
            <a:ext cx="4892040" cy="96012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291840"/>
            <a:ext cx="82296" cy="960120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5840" y="3584448"/>
            <a:ext cx="777240" cy="38404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3630168"/>
            <a:ext cx="7040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374136"/>
            <a:ext cx="36118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333333"/>
                </a:solidFill>
                <a:latin typeface="Calibri"/>
              </a:rPr>
              <a:t>Real authentication (Firebase Auth) and persistent user/invoice history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15544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D3B66"/>
                </a:solidFill>
                <a:latin typeface="Calibri"/>
              </a:rPr>
              <a:t>Roadmap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2057400"/>
            <a:ext cx="4892040" cy="96012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2057400"/>
            <a:ext cx="82296" cy="96012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350008"/>
            <a:ext cx="685800" cy="38404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4496" y="2395728"/>
            <a:ext cx="6126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2139696"/>
            <a:ext cx="36118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333333"/>
                </a:solidFill>
                <a:latin typeface="Calibri"/>
              </a:rPr>
              <a:t>Backend integration - real PDF generation, email delivery, API services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3291840"/>
            <a:ext cx="4892040" cy="96012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35040" y="3291840"/>
            <a:ext cx="82296" cy="96012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3584448"/>
            <a:ext cx="685800" cy="38404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3630168"/>
            <a:ext cx="6126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Later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374136"/>
            <a:ext cx="36118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333333"/>
                </a:solidFill>
                <a:latin typeface="Calibri"/>
              </a:rPr>
              <a:t>Profile, Receipts &amp; Settings screens, analytics, notifications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5349240"/>
            <a:ext cx="10469880" cy="822960"/>
          </a:xfrm>
          <a:prstGeom prst="rect">
            <a:avLst/>
          </a:prstGeom>
          <a:solidFill>
            <a:srgbClr val="F8F8F7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54864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D3B66"/>
                </a:solidFill>
                <a:latin typeface="Calibri"/>
              </a:rPr>
              <a:t>The current build already demonstrates the full UX, error handling, responsive layout and architecture the production app will be built on - making the leap to a live backend minimal.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1097280"/>
            <a:ext cx="3291840" cy="3291840"/>
          </a:xfrm>
          <a:prstGeom prst="ellipse">
            <a:avLst/>
          </a:prstGeom>
          <a:solidFill>
            <a:srgbClr val="0B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914400" y="4937760"/>
            <a:ext cx="3108960" cy="3108960"/>
          </a:xfrm>
          <a:prstGeom prst="ellipse">
            <a:avLst/>
          </a:prstGeom>
          <a:solidFill>
            <a:srgbClr val="0B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800" b="1" i="0">
                <a:solidFill>
                  <a:srgbClr val="FFFFFF"/>
                </a:solidFill>
                <a:latin typeface="Calibri Light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54ACFF"/>
                </a:solidFill>
                <a:latin typeface="Calibri"/>
              </a:rPr>
              <a:t>Feeding back is welcome - questions and discussion after the demo.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611880"/>
            <a:ext cx="2011680" cy="31750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977639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Adetunji Adegbite
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D5DCE3"/>
                </a:solidFill>
                <a:latin typeface="Calibri"/>
              </a:rPr>
              <a:t>Candidate - Senior Analyst, Mobile Development
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A9B4C0"/>
                </a:solidFill>
                <a:latin typeface="Calibri"/>
              </a:rPr>
              <a:t>PrimeTrust Bank Plc  •  September 2026
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4ACFF"/>
                </a:solidFill>
                <a:latin typeface="Calibri"/>
              </a:rPr>
              <a:t>github.com/Jayhymn/lancebox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